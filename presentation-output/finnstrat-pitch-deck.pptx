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77775ed374b75" /><Relationship Type="http://schemas.openxmlformats.org/officeDocument/2006/relationships/extended-properties" Target="/docProps/app.xml" Id="R4191c797122f4477" /><Relationship Type="http://schemas.openxmlformats.org/officeDocument/2006/relationships/officeDocument" Target="/ppt/presentation.xml" Id="Ra1623531df38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bab4665874332"/>
  </p:sldMasterIdLst>
  <p:notesMasterIdLst>
    <p:notesMasterId xmlns:r="http://schemas.openxmlformats.org/officeDocument/2006/relationships" r:id="R8f39b28455604736"/>
  </p:notesMasterIdLst>
  <p:sldIdLst>
    <p:sldId xmlns:r="http://schemas.openxmlformats.org/officeDocument/2006/relationships" id="256" r:id="Rdd5ab7904fa44386"/>
    <p:sldId xmlns:r="http://schemas.openxmlformats.org/officeDocument/2006/relationships" id="257" r:id="Rac78bade8415449e"/>
    <p:sldId xmlns:r="http://schemas.openxmlformats.org/officeDocument/2006/relationships" id="258" r:id="R3bbdd89f6c864a9a"/>
    <p:sldId xmlns:r="http://schemas.openxmlformats.org/officeDocument/2006/relationships" id="259" r:id="R9bdb52c5593444f9"/>
    <p:sldId xmlns:r="http://schemas.openxmlformats.org/officeDocument/2006/relationships" id="260" r:id="Re7eb971ec03d44de"/>
    <p:sldId xmlns:r="http://schemas.openxmlformats.org/officeDocument/2006/relationships" id="261" r:id="R88c919d7f51a4d99"/>
    <p:sldId xmlns:r="http://schemas.openxmlformats.org/officeDocument/2006/relationships" id="262" r:id="R39a3083d6ee9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818f690214dcc" /><Relationship Type="http://schemas.openxmlformats.org/officeDocument/2006/relationships/slideMaster" Target="/ppt/slideMasters/slideMaster1.xml" Id="Ref8bab4665874332" /><Relationship Type="http://schemas.openxmlformats.org/officeDocument/2006/relationships/notesMaster" Target="/ppt/notesMasters/notesMaster1.xml" Id="R8f39b28455604736" /><Relationship Type="http://schemas.openxmlformats.org/officeDocument/2006/relationships/presProps" Target="/ppt/presProps.xml" Id="Rbd9363a5c4e04df0" /><Relationship Type="http://schemas.openxmlformats.org/officeDocument/2006/relationships/tableStyles" Target="/ppt/tableStyles.xml" Id="R693f95e261ac4182" /><Relationship Type="http://schemas.openxmlformats.org/officeDocument/2006/relationships/slide" Target="/ppt/slides/slide1.xml" Id="Rdd5ab7904fa44386" /><Relationship Type="http://schemas.openxmlformats.org/officeDocument/2006/relationships/slide" Target="/ppt/slides/slide2.xml" Id="Rac78bade8415449e" /><Relationship Type="http://schemas.openxmlformats.org/officeDocument/2006/relationships/slide" Target="/ppt/slides/slide3.xml" Id="R3bbdd89f6c864a9a" /><Relationship Type="http://schemas.openxmlformats.org/officeDocument/2006/relationships/slide" Target="/ppt/slides/slide4.xml" Id="R9bdb52c5593444f9" /><Relationship Type="http://schemas.openxmlformats.org/officeDocument/2006/relationships/slide" Target="/ppt/slides/slide5.xml" Id="Re7eb971ec03d44de" /><Relationship Type="http://schemas.openxmlformats.org/officeDocument/2006/relationships/slide" Target="/ppt/slides/slide6.xml" Id="R88c919d7f51a4d99" /><Relationship Type="http://schemas.openxmlformats.org/officeDocument/2006/relationships/slide" Target="/ppt/slides/slide7.xml" Id="R39a3083d6ee9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c1051371342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91c222cfd4628" /><Relationship Type="http://schemas.openxmlformats.org/officeDocument/2006/relationships/notesMaster" Target="/ppt/notesMasters/notesMaster1.xml" Id="R031c24778a2848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c19c0280d40de" /><Relationship Type="http://schemas.openxmlformats.org/officeDocument/2006/relationships/notesMaster" Target="/ppt/notesMasters/notesMaster1.xml" Id="R55f8e5c8360544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4ed5b66b2f4bbd" /><Relationship Type="http://schemas.openxmlformats.org/officeDocument/2006/relationships/notesMaster" Target="/ppt/notesMasters/notesMaster1.xml" Id="Rbafff31c02c5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0a0a0ab8cd4c32" /><Relationship Type="http://schemas.openxmlformats.org/officeDocument/2006/relationships/notesMaster" Target="/ppt/notesMasters/notesMaster1.xml" Id="R031cd66a7e1b40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c87ff1adf4cc2" /><Relationship Type="http://schemas.openxmlformats.org/officeDocument/2006/relationships/notesMaster" Target="/ppt/notesMasters/notesMaster1.xml" Id="R4df60112947746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6d168928af4377" /><Relationship Type="http://schemas.openxmlformats.org/officeDocument/2006/relationships/notesMaster" Target="/ppt/notesMasters/notesMaster1.xml" Id="R6dd2fdd1c8024b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e4402bfa2453f" /><Relationship Type="http://schemas.openxmlformats.org/officeDocument/2006/relationships/notesMaster" Target="/ppt/notesMasters/notesMaster1.xml" Id="R9bb8c7465624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FinnStrat pitch deck. Tagline and product framing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National Centre for Financial Education, National Strategy for Financial Education / 2019 survey. The 27.18% figure measures the minimum threshold across financial knowledge, attitude, and behaviour. Source: https://systemhealth.rbi.org.in/Scripts/PublicationReportDetails.aspx_UrlPage%3D%26ID%3D1156%281%29.html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 model and MVP framing supplied by the user. ₹19/week is a proposed price, not a validated market price.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950c92d3b41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11c4967404b54" /><Relationship Type="http://schemas.openxmlformats.org/officeDocument/2006/relationships/slideLayout" Target="/ppt/slideLayouts/slideLayout1.xml" Id="Rd7db5213b5b3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db5213b5b3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96f87f8254b54" /><Relationship Type="http://schemas.openxmlformats.org/officeDocument/2006/relationships/notesSlide" Target="/ppt/notesSlides/notesSlide1.xml" Id="R5cd702c1e36345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24fc32504faf" /><Relationship Type="http://schemas.openxmlformats.org/officeDocument/2006/relationships/notesSlide" Target="/ppt/notesSlides/notesSlide2.xml" Id="Rd500c3753a8240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d01000b3e4dd1" /><Relationship Type="http://schemas.openxmlformats.org/officeDocument/2006/relationships/notesSlide" Target="/ppt/notesSlides/notesSlide3.xml" Id="R25509568025a44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f7fd1fe2d4211" /><Relationship Type="http://schemas.openxmlformats.org/officeDocument/2006/relationships/notesSlide" Target="/ppt/notesSlides/notesSlide4.xml" Id="Rc382115998e3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b417417114706" /><Relationship Type="http://schemas.openxmlformats.org/officeDocument/2006/relationships/notesSlide" Target="/ppt/notesSlides/notesSlide5.xml" Id="Rdf318d461e4b48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858c4b6ca4157" /><Relationship Type="http://schemas.openxmlformats.org/officeDocument/2006/relationships/notesSlide" Target="/ppt/notesSlides/notesSlide6.xml" Id="Rfbe927d1629c4f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f2f04b97460c" /><Relationship Type="http://schemas.openxmlformats.org/officeDocument/2006/relationships/notesSlide" Target="/ppt/notesSlides/notesSlide7.xml" Id="R36d264f414de4d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97097-7C27-4214-87F3-F3F00E4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7BE3F-7426-4C9F-AF0A-E171009E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42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Plan for the best.</a:t>
            </a:r>
          </a:p>
          <a:p xmlns:a="http://schemas.openxmlformats.org/drawingml/2006/main">
            <a:pPr>
              <a:defRPr sz="450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Prepare for the worst.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4B675-D921-44EF-9AD1-7FA642D2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A wealth tracker and planner built around the goals people care about and the shocks they cannot predict.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C26E1-0C03-42AE-8579-D09EF4B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1905000" cy="1905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AE6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29EA1-EE3C-419E-91C0-A4AD7EB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809625" cy="10953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AE6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B9F68-A6E7-4414-9D9B-A701E11C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952625"/>
            <a:ext cx="333375" cy="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AE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D408F-B757-4E0B-8EA0-737E87AB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WEALTH</a:t>
            </a:r>
          </a:p>
          <a:p xmlns:a="http://schemas.openxmlformats.org/drawingml/2006/main">
            <a:pPr>
              <a:defRPr sz="15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THAT HOLDS</a:t>
            </a:r>
          </a:p>
          <a:p xmlns:a="http://schemas.openxmlformats.org/drawingml/2006/main">
            <a:pPr>
              <a:defRPr sz="15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</p:spTree>
    <p:extLst>
      <p:ext uri="{BB962C8B-B14F-4D97-AF65-F5344CB8AC3E}">
        <p14:creationId xmlns:p14="http://schemas.microsoft.com/office/powerpoint/2010/main" val="1005288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FBAD5-DACA-4E0D-B8FD-EB36D45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1BFF8-DD68-4FBB-B868-FA4D0D9E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8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5BDF3-6208-47A1-9718-EB868101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The financial planning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A611E-B75F-4511-A7C3-041C365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People can access more financial products than ever. Many still lack a clear plan for what happens when life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C512E-93B3-4CB8-A640-A83835BB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66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27.18%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33F2F-976E-4C7F-AFDB-B636CC47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EEE4"/>
                </a:solidFill>
                <a:latin typeface="Aptos"/>
                <a:ea typeface="Aptos"/>
                <a:cs typeface="Aptos"/>
              </a:rPr>
              <a:t>of respondents crossed the minimum financial-literacy threshold in the 2019 NCFE survey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898A9-813B-46CD-AA8F-A02FFEB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Financial literacy covers knowledge, attitude, and behaviour—not just investing.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17DDD-7616-420B-AE7C-88B670A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INCOME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EAFCE-9BFA-4170-814F-F5BDE80A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SPENDING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720E8-4493-4B7B-A138-FBAE829D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DREAMS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CAA26-85EE-4BCE-AFFC-ABB98B27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87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8768"/>
                </a:solidFill>
                <a:latin typeface="Aptos"/>
                <a:ea typeface="Aptos"/>
                <a:cs typeface="Aptos"/>
              </a:rPr>
              <a:t>SHOCKS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C2515-7AA5-4507-9B19-FF49AB6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71675"/>
            <a:ext cx="476250" cy="762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452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C96AE-A70B-4F7B-AEEC-0B95835C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1809750" cy="1362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452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48987-E167-4B40-A14B-560A02EC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57675"/>
            <a:ext cx="476250" cy="762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4524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17B43-6D72-45E0-80B1-B47AC825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72125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The missing layer is</a:t>
            </a:r>
          </a:p>
          <a:p xmlns:a="http://schemas.openxmlformats.org/drawingml/2006/main">
            <a:pPr>
              <a:defRPr sz="172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resilient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315274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FA291-FB5D-460D-AF2D-24F5BF19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0ECFB-7A01-4FE6-B998-66C19A42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8A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72317-CEB3-494A-9159-85AE40CC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One place for spending, goals, and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54880-AFE2-499B-989F-EA708DA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10AF1-8205-49F5-BC49-A5FCE8E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8F8BD-ECD2-4DB8-BA5F-6A0255E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See where money goes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DFD96-FB3D-4AB2-A757-DEA6123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AE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E5DD7-8B4D-4222-9F5B-4ABAF30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BF78F-42D5-4FF3-8F18-85D18298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BE89D-7990-4776-82A1-AFF7D5E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Turn dreams into timelines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C6E2A-D352-4B7F-9EF5-3C8DB69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289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AE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9A474-B765-47AE-B478-A1B9BBA8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33007-25FC-4CB2-B231-0431729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STRESS-TEST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22E6D-7624-48B9-A97F-5E674C5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Find the breaking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B8D3E-BF98-4D71-A9C3-9022783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AE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3C36A-E7B1-4C43-9A92-4161F208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E6DAC-1D78-4A46-8396-4F447F79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ADJUST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49217-1429-4319-B736-F978790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Improve the strategy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B1CAA-CC4C-4D46-89DE-6ED7E050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Example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DCD8F-0A6A-4C94-9335-5E9A8CC6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Buy a car • ₹18 lakh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95E32-CFBD-4E77-A32C-B4D1A52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006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The app compares the strongest strategies instead of giving one generic answer.</a:t>
            </a:r>
          </a:p>
        </p:txBody>
      </p:sp>
    </p:spTree>
    <p:extLst>
      <p:ext uri="{BB962C8B-B14F-4D97-AF65-F5344CB8AC3E}">
        <p14:creationId xmlns:p14="http://schemas.microsoft.com/office/powerpoint/2010/main" val="3297015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E715D-275F-4E56-93B4-FAF7C39B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B6262-4063-4EC0-943A-0AE6C9A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8A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095B5-987E-49B8-9D4B-BBD5DA60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The user has a dream and a monthly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335E6-949E-43A6-B971-20732086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Young working Indians and families who earn, save, spend, and invest—but do not have a personal financial planner.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2C41F-8D53-4633-BB7E-672F142E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64">
              <a:alpha val="13333"/>
            </a:srgbClr>
          </a:solidFill>
          <a:ln xmlns:a="http://schemas.openxmlformats.org/drawingml/2006/main" w="9525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FIRST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60A8A-A08A-4155-981E-279BBBAC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64">
              <a:alpha val="13333"/>
            </a:srgbClr>
          </a:solidFill>
          <a:ln xmlns:a="http://schemas.openxmlformats.org/drawingml/2006/main" w="9525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NEW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7438B-FE41-4F62-9CE1-43E7D9D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9875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64">
              <a:alpha val="13333"/>
            </a:srgbClr>
          </a:solidFill>
          <a:ln xmlns:a="http://schemas.openxmlformats.org/drawingml/2006/main" w="9525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SIDE HUSTLE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24C4B-2C8A-430F-B110-558A1E08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98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64">
              <a:alpha val="13333"/>
            </a:srgbClr>
          </a:solidFill>
          <a:ln xmlns:a="http://schemas.openxmlformats.org/drawingml/2006/main" w="9525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BIG PURCHASE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9420A-67CD-4C1B-A3E7-2EE62DE3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“I earn reasonably well.</a:t>
            </a:r>
          </a:p>
          <a:p xmlns:a="http://schemas.openxmlformats.org/drawingml/2006/main">
            <a:pPr>
              <a:defRPr sz="240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I just don’t know if I can</a:t>
            </a:r>
          </a:p>
          <a:p xmlns:a="http://schemas.openxmlformats.org/drawingml/2006/main">
            <a:pPr>
              <a:defRPr sz="240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safely afford my next move.”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AAC35-20B0-4E63-9DB7-7B88C617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EE205-6CE5-4471-8D63-52E6AD12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Goal-driven</a:t>
            </a:r>
          </a:p>
          <a:p xmlns:a="http://schemas.openxmlformats.org/drawingml/2006/main">
            <a:pPr>
              <a:defRPr sz="202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Digital-first</a:t>
            </a:r>
          </a:p>
          <a:p xmlns:a="http://schemas.openxmlformats.org/drawingml/2006/main">
            <a:pPr>
              <a:defRPr sz="202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Wants clarity</a:t>
            </a:r>
          </a:p>
          <a:p xmlns:a="http://schemas.openxmlformats.org/drawingml/2006/main">
            <a:pPr>
              <a:defRPr sz="202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Needs flexibility</a:t>
            </a:r>
          </a:p>
        </p:txBody>
      </p:sp>
    </p:spTree>
    <p:extLst>
      <p:ext uri="{BB962C8B-B14F-4D97-AF65-F5344CB8AC3E}">
        <p14:creationId xmlns:p14="http://schemas.microsoft.com/office/powerpoint/2010/main" val="1133615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1F42F-5D94-41EA-AB82-FBFA04F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CA538-F230-4F0F-8B1F-40ACD01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8A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0D1D9-86C6-4CD6-B0BA-EDC9647E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The difference is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83460-85F7-412D-AF4A-B75BF6C7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Most tools show a projection. FinnStrat shows the consequences of a decision under pressure.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4DA37-2B61-4022-A392-2E1BAD28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7B8AF"/>
                </a:solidFill>
                <a:latin typeface="Aptos"/>
                <a:ea typeface="Aptos"/>
                <a:cs typeface="Aptos"/>
              </a:rPr>
              <a:t>Highest return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2BF1A-9D5A-4293-A838-CE372D0B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Highest survivability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31D34-8EC9-4653-A2AD-F7659E53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4524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FCEC-4F93-482E-8D3E-D35FD50E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619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29"/>
          </a:solidFill>
          <a:ln xmlns:a="http://schemas.openxmlformats.org/drawingml/2006/main" w="19050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08205-E72E-4734-BB2C-95D5988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672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The strategy a person can sustain when income drops, markets fall, or expenses spike.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C5CD6-04D9-4E70-83A6-CCD94FA0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64">
              <a:alpha val="13333"/>
            </a:srgbClr>
          </a:solidFill>
          <a:ln xmlns:a="http://schemas.openxmlformats.org/drawingml/2006/main" w="9525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GOAL-BASED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843B8-98CE-4B41-9CFD-BB08E13E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05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64">
              <a:alpha val="13333"/>
            </a:srgbClr>
          </a:solidFill>
          <a:ln xmlns:a="http://schemas.openxmlformats.org/drawingml/2006/main" w="9525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STRESS-TESTED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AEF83-6F0A-4413-8E32-59FAEFEC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05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64">
              <a:alpha val="13333"/>
            </a:srgbClr>
          </a:solidFill>
          <a:ln xmlns:a="http://schemas.openxmlformats.org/drawingml/2006/main" w="9525">
            <a:solidFill>
              <a:srgbClr val="D9AE6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EXPLAINABLE</a:t>
            </a:r>
          </a:p>
        </p:txBody>
      </p:sp>
    </p:spTree>
    <p:extLst>
      <p:ext uri="{BB962C8B-B14F-4D97-AF65-F5344CB8AC3E}">
        <p14:creationId xmlns:p14="http://schemas.microsoft.com/office/powerpoint/2010/main" val="846812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B0063-4665-4685-8C08-B0286CC3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26E80-740C-46FB-A2E1-D684BC02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8A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746B0-5A12-464B-BF54-24FA808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When a strategy fails, the app explains what to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2D29B-73E7-4217-8B4D-FCC9CCE0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876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87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A40CE-5582-4085-91D7-76B49F50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BREAKING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1C94C-147A-4077-9371-88EA879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Emergency reserve breached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05CD1-0828-427A-9032-459C06D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4524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79F46-9D4C-486C-AB15-1139C35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D1FA0-965E-4840-8596-B8ED1400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A47A7-B620-42AC-8D05-865A0516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EMI is too high for income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BF375-C33C-4D9D-B318-2C013C1B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452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3D44C-9AC7-41DC-B8A1-E5CAEF27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34FE4-56DF-4474-84BE-926955A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B0162-2FA9-4236-881C-84C949CE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Reduce loan or delay purchase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6391A-3482-4EB8-BC4E-6077E38E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4524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6FBC8-D0A9-4388-BA80-221D946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B1D58-E062-4948-8BEA-E64F6A6C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RERUN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75B86-A954-482E-A1AD-0C47578B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Compare the safer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BDE19-8948-4943-95BA-87487BD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A failed plan is not the end of the journey. It is a signal to redesign the plan.</a:t>
            </a:r>
          </a:p>
        </p:txBody>
      </p:sp>
    </p:spTree>
    <p:extLst>
      <p:ext uri="{BB962C8B-B14F-4D97-AF65-F5344CB8AC3E}">
        <p14:creationId xmlns:p14="http://schemas.microsoft.com/office/powerpoint/2010/main" val="384233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3AA64-4C3E-4C6E-BB1F-B26933B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FINNSTRAT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1B821-49D9-4B8D-83B0-B7C4C6A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8A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5BE41-BA99-4F71-97A3-F92B9FD7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A simple path from trust to paid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428D9-227E-48B2-9777-418408E1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FREE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46381-0146-4D84-A2BE-5925B4B7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Build the habit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D3D20-B127-4D2C-9C08-3BB6D714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Track spending</a:t>
            </a:r>
          </a:p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Set goals</a:t>
            </a:r>
          </a:p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Compare basic plans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8E374-4C3B-4E78-A73B-4670F50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AE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2BDFD-40E4-42AC-AC9E-8683781F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₹19 / 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9BDB5-10FE-4558-8147-800C5E13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Premium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BF661-641E-439F-A835-DEE960D9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Advanced stress tests</a:t>
            </a:r>
          </a:p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Family planning</a:t>
            </a:r>
          </a:p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AI explanations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C3AFE-023F-4F45-95EE-85DFAEAB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AE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3C30B-744D-42E0-A267-BE37762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TRUSTED PARTNERS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5CFBE-AC63-41B2-8444-CDEFE8D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Transparent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02B46-F73F-4125-97B1-AA52239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Financial wellness</a:t>
            </a:r>
          </a:p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Carefully selected products</a:t>
            </a:r>
          </a:p>
          <a:p xmlns:a="http://schemas.openxmlformats.org/drawingml/2006/main">
            <a:pPr>
              <a:defRPr sz="1575" b="0">
                <a:solidFill>
                  <a:srgbClr val="A7B8A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8AF"/>
                </a:solidFill>
                <a:latin typeface="Aptos"/>
                <a:ea typeface="Aptos"/>
                <a:cs typeface="Aptos"/>
              </a:rPr>
              <a:t>Visible savings protected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D79EC-603D-4ECF-9DC7-60C917D9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4524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C458C-13C6-48F0-8B16-64498EDF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AE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E64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8573B-B8D8-45B4-8DC9-76A3ACA3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EE4"/>
                </a:solidFill>
                <a:latin typeface="Aptos"/>
                <a:ea typeface="Aptos"/>
                <a:cs typeface="Aptos"/>
              </a:rPr>
              <a:t>Profile → Goal → Strategy shortlist → Stress test → Breaking point → Recovery plan</a:t>
            </a:r>
          </a:p>
        </p:txBody>
      </p:sp>
    </p:spTree>
    <p:extLst>
      <p:ext uri="{BB962C8B-B14F-4D97-AF65-F5344CB8AC3E}">
        <p14:creationId xmlns:p14="http://schemas.microsoft.com/office/powerpoint/2010/main" val="2091803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2026-09-19T16:03:11.4190000Z</dcterms:created>
  <dcterms:modified xsi:type="dcterms:W3CDTF">2026-09-19T16:03:11.4190000Z</dcterms:modified>
</coreProperties>
</file>